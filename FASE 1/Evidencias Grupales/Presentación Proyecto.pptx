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Merriweather" panose="020F0502020204030204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ABACFF-13E2-4162-91AF-C820DA825DC5}">
  <a:tblStyle styleId="{04ABACFF-13E2-4162-91AF-C820DA825D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19413"/>
            <a:ext cx="110490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890962" y="4319438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Estudiante:</a:t>
            </a:r>
            <a:endParaRPr lang="es-CL" noProof="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662362" y="4595663"/>
            <a:ext cx="1200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Asignatura:</a:t>
            </a:r>
            <a:endParaRPr lang="es-CL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198596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DENTALWARE</a:t>
            </a:r>
            <a:endParaRPr lang="es-CL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121223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81D4FA"/>
                </a:solidFill>
                <a:latin typeface="DM Sans"/>
                <a:ea typeface="DM Sans"/>
                <a:cs typeface="DM Sans"/>
                <a:sym typeface="DM Sans"/>
              </a:rPr>
              <a:t>Solución Integral de Gestión para Clínicas Dentales</a:t>
            </a:r>
            <a:endParaRPr lang="es-C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Contexto: El Odontólogo Independiente</a:t>
            </a:r>
            <a:endParaRPr lang="es-CL" noProof="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090737"/>
            <a:ext cx="53506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 Desafío Operacional</a:t>
            </a:r>
            <a:endParaRPr lang="es-CL" noProof="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76512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En el panorama actual, muchos odontólogos deciden emprender de forma independiente. Sin embargo, se enfrentan a una doble carga:</a:t>
            </a:r>
            <a:endParaRPr lang="es-CL" noProof="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805362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A menudo, esto se realiza sin personal de apoyo, lo que requiere herramientas que actúen como un "asistente virtual".</a:t>
            </a:r>
            <a:endParaRPr lang="es-CL" noProof="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04825" y="3690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s-CL" noProof="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690937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Atención Clínica:</a:t>
            </a: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Diagnóstico y tratamiento de alta calidad.</a:t>
            </a:r>
            <a:endParaRPr lang="es-CL" noProof="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04825" y="4300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s-CL" noProof="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30053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Gestión Administrativa:</a:t>
            </a: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Agendas, finanzas y registros.</a:t>
            </a:r>
            <a:endParaRPr lang="es-CL" noProof="0" dirty="0"/>
          </a:p>
        </p:txBody>
      </p:sp>
      <p:pic>
        <p:nvPicPr>
          <p:cNvPr id="103" name="Google Shape;103;p14" title="Gemini_Generated_Image_tvzydgtvzydgtv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7650" y="2389050"/>
            <a:ext cx="5891125" cy="32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34924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19312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19312"/>
            <a:ext cx="34924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7675" y="25098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101" y="25098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50" y="25098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La Problemática Actual</a:t>
            </a:r>
            <a:endParaRPr lang="es-CL" noProof="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784227" y="3243262"/>
            <a:ext cx="30669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81D4FA"/>
                </a:solidFill>
                <a:latin typeface="Merriweather"/>
                <a:ea typeface="Merriweather"/>
                <a:cs typeface="Merriweather"/>
                <a:sym typeface="Merriweather"/>
              </a:rPr>
              <a:t>Desorganización</a:t>
            </a:r>
            <a:endParaRPr lang="es-CL" noProof="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3729037"/>
            <a:ext cx="2920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Uso de fichas en papel, planillas Excel desconectadas y cuadernos físicos, lo que conlleva a la pérdida de información crítica del paciente.</a:t>
            </a:r>
            <a:endParaRPr lang="es-CL" noProof="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4562374" y="3243262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81D4FA"/>
                </a:solidFill>
                <a:latin typeface="Merriweather"/>
                <a:ea typeface="Merriweather"/>
                <a:cs typeface="Merriweather"/>
                <a:sym typeface="Merriweather"/>
              </a:rPr>
              <a:t>Ineficiencia</a:t>
            </a:r>
            <a:endParaRPr lang="es-CL" noProof="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4635400" y="3729037"/>
            <a:ext cx="292104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El odontólogo pierde horas valiosas en tareas administrativas manuales que podrían automatizarse, reduciendo el tiempo de atención clínica.</a:t>
            </a:r>
            <a:endParaRPr lang="es-CL" noProof="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340677" y="3243262"/>
            <a:ext cx="306694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81D4FA"/>
                </a:solidFill>
                <a:latin typeface="Merriweather"/>
                <a:ea typeface="Merriweather"/>
                <a:cs typeface="Merriweather"/>
                <a:sym typeface="Merriweather"/>
              </a:rPr>
              <a:t>Falta de Centralización</a:t>
            </a:r>
            <a:endParaRPr lang="es-CL" noProof="0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413700" y="3729037"/>
            <a:ext cx="29208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Ausencia de un sistema unificado que conecte la agenda, la ficha clínica y los pagos, dificultando la visión global del negocio.</a:t>
            </a:r>
            <a:endParaRPr lang="es-CL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762000"/>
            <a:ext cx="5200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 Solución:</a:t>
            </a:r>
            <a:endParaRPr lang="es-CL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Dentalware</a:t>
            </a:r>
            <a:endParaRPr lang="es-CL" noProof="0"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095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lang="es-CL" sz="150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plataforma web integral</a:t>
            </a: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diseñada para que el odontólogo asuma el control total sin delegar.</a:t>
            </a:r>
            <a:endParaRPr lang="es-CL" noProof="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9051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Módulos Clave:</a:t>
            </a:r>
            <a:endParaRPr lang="es-CL" noProof="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695325" y="3305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s-CL" noProof="0"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330517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Gestión de Agenda Inteligente.</a:t>
            </a:r>
            <a:endParaRPr lang="es-CL" noProof="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95325" y="36099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s-CL" noProof="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60997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Ficha Clínica Digital Centralizada.</a:t>
            </a:r>
            <a:endParaRPr lang="es-CL" noProof="0"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95325" y="3914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s-CL" noProof="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391477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Consentimientos Informados Digitales.</a:t>
            </a:r>
            <a:endParaRPr lang="es-CL" noProof="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4219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es-CL" noProof="0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421957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Reportes Financieros Automatizados.</a:t>
            </a:r>
            <a:endParaRPr lang="es-CL" noProof="0" dirty="0"/>
          </a:p>
        </p:txBody>
      </p:sp>
      <p:pic>
        <p:nvPicPr>
          <p:cNvPr id="138" name="Google Shape;13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4674" y="1328226"/>
            <a:ext cx="6627626" cy="345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28937" y="28908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91562" y="28908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Propuesta de Valor</a:t>
            </a:r>
            <a:endParaRPr lang="es-CL" noProof="0"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739378" y="3624262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Accesibilidad Total</a:t>
            </a:r>
            <a:endParaRPr lang="es-CL" noProof="0"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4110037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Plataforma 100% Web. Permite gestionar la clínica desde cualquier dispositivo (Tablet, Móvil, PC) y lugar, otorgando libertad al profesional.</a:t>
            </a:r>
            <a:endParaRPr lang="es-CL" noProof="0"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6502003" y="3624262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Autonomía Operativa</a:t>
            </a:r>
            <a:endParaRPr lang="es-CL" noProof="0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6619875" y="4110037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Diseñado para eliminar la dependencia de un asistente administrativo. El sistema automatiza flujos de confirmación y registro.</a:t>
            </a:r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70870"/>
            <a:ext cx="53340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870870"/>
            <a:ext cx="533400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1015454"/>
            <a:ext cx="588073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50" b="1" i="0" u="none" strike="noStrike" cap="none" noProof="0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del Proyecto</a:t>
            </a:r>
            <a:endParaRPr lang="es-CL" noProof="0"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904875" y="2234654"/>
            <a:ext cx="1125140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General</a:t>
            </a:r>
            <a:endParaRPr lang="es-CL" noProof="0" dirty="0"/>
          </a:p>
        </p:txBody>
      </p:sp>
      <p:sp>
        <p:nvSpPr>
          <p:cNvPr id="162" name="Google Shape;162;p18"/>
          <p:cNvSpPr txBox="1"/>
          <p:nvPr/>
        </p:nvSpPr>
        <p:spPr>
          <a:xfrm>
            <a:off x="904875" y="2758529"/>
            <a:ext cx="107156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Desarrollar y documentar una Plataforma Web Integral para la gestión centralizada de operaciones clínicas y administrativas, asegurando la continuidad operacional y la seguridad de la información.</a:t>
            </a:r>
            <a:endParaRPr lang="es-CL" noProof="0"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738187" y="415662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81D4FA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</a:t>
            </a:r>
            <a:endParaRPr lang="es-CL" noProof="0"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857250" y="464239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Construir un modelo arquitectónico robusto y escalable alineado a estándares de industria.</a:t>
            </a:r>
            <a:endParaRPr lang="es-CL" noProof="0"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6453187" y="415662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81D4FA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Implementación</a:t>
            </a:r>
            <a:endParaRPr lang="es-CL" noProof="0"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6572250" y="4642395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Implementar bases de datos seguras y módulos funcionales mediante buenas prácticas de codificación.</a:t>
            </a:r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0837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90837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90837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3281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826" y="32813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4125" y="32813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Metodología:  Scrum Solo</a:t>
            </a:r>
            <a:endParaRPr lang="es-CL" noProof="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1809750" y="180498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Adaptación de Scrum para desarrollo individual con ciclos de entrega rápida para mitigar riesgos y validar avances constantemente.</a:t>
            </a:r>
            <a:endParaRPr lang="es-CL" noProof="0"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784227" y="4014787"/>
            <a:ext cx="30669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Sprints</a:t>
            </a: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Semanales</a:t>
            </a:r>
            <a:endParaRPr lang="es-CL" noProof="0"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857250" y="4500562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Ciclos cortos de 1 semana para mantener un ritmo constante y asegurar entregables tangibles cada viernes.</a:t>
            </a:r>
            <a:endParaRPr lang="es-CL" noProof="0"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4562374" y="4014787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Roles Integrados</a:t>
            </a:r>
            <a:endParaRPr lang="es-CL" noProof="0"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4635400" y="4500562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Gonzalo asume roles técnicos (SM, Dev) mientras el Socio Estratégico valida el negocio (PO).</a:t>
            </a:r>
            <a:endParaRPr lang="es-CL" noProof="0"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8340677" y="4014787"/>
            <a:ext cx="306694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Validación Continua</a:t>
            </a:r>
            <a:endParaRPr lang="es-CL" noProof="0"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8413700" y="4500562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Retroalimentación experta directa del rubro dental al finalizar cada incremento funcional.</a:t>
            </a:r>
            <a:endParaRPr lang="es-CL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1262"/>
            <a:ext cx="11049000" cy="2847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0"/>
          <p:cNvGraphicFramePr/>
          <p:nvPr>
            <p:extLst>
              <p:ext uri="{D42A27DB-BD31-4B8C-83A1-F6EECF244321}">
                <p14:modId xmlns:p14="http://schemas.microsoft.com/office/powerpoint/2010/main" val="2397079063"/>
              </p:ext>
            </p:extLst>
          </p:nvPr>
        </p:nvGraphicFramePr>
        <p:xfrm>
          <a:off x="571500" y="2481262"/>
          <a:ext cx="11049000" cy="3611245"/>
        </p:xfrm>
        <a:graphic>
          <a:graphicData uri="http://schemas.openxmlformats.org/drawingml/2006/table">
            <a:tbl>
              <a:tblPr firstRow="1" bandRow="1">
                <a:noFill/>
                <a:tableStyleId>{04ABACFF-13E2-4162-91AF-C820DA825DC5}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Integrante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Rol Metodológico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Responsabilidades Clave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Gonzalo Arévalo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Scrum Master &amp;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Equipo de Desarrollo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• Gestión integral de </a:t>
                      </a:r>
                      <a:r>
                        <a:rPr lang="es-CL" sz="1200" b="0" i="0" u="none" strike="noStrike" cap="none" noProof="0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Sprints</a:t>
                      </a: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y Cronograma.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 • Diseño de Arquitectura y Base de Datos.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 • Codificación (</a:t>
                      </a:r>
                      <a:r>
                        <a:rPr lang="es-CL" sz="1200" b="0" i="0" u="none" strike="noStrike" cap="none" noProof="0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</a:t>
                      </a: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/</a:t>
                      </a:r>
                      <a:r>
                        <a:rPr lang="es-CL" sz="1200" b="0" i="0" u="none" strike="noStrike" cap="none" noProof="0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Frontend</a:t>
                      </a: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).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 • Pruebas de Integración y Seguridad.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Socio Estratégico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</a:t>
                      </a: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s-CL" sz="1200" b="0" i="0" u="none" strike="noStrike" cap="none" noProof="0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Owner</a:t>
                      </a: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&amp;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Experto Funcional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• Priorización del Backlog según valor de negocio.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 • Validación de incrementos funcionales.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 • Aportar conocimiento de dominio dental.</a:t>
                      </a:r>
                      <a:br>
                        <a:rPr lang="es-CL" sz="1800" u="none" strike="noStrike" cap="none" noProof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        • </a:t>
                      </a:r>
                      <a:r>
                        <a:rPr lang="es-CL" sz="1200" b="0" i="0" u="none" strike="noStrike" cap="none" noProof="0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Feedback</a:t>
                      </a:r>
                      <a:r>
                        <a:rPr lang="es-CL" sz="1200" b="0" i="0" u="none" strike="noStrike" cap="none" noProof="0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de usabilidad.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Definición de Roles</a:t>
            </a:r>
            <a:endParaRPr lang="es-CL" noProof="0" dirty="0"/>
          </a:p>
        </p:txBody>
      </p:sp>
      <p:sp>
        <p:nvSpPr>
          <p:cNvPr id="194" name="Google Shape;194;p20"/>
          <p:cNvSpPr/>
          <p:nvPr/>
        </p:nvSpPr>
        <p:spPr>
          <a:xfrm>
            <a:off x="571500" y="3019425"/>
            <a:ext cx="2762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333750" y="3019425"/>
            <a:ext cx="33147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648450" y="3019425"/>
            <a:ext cx="49720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1500" y="4171950"/>
            <a:ext cx="2762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333750" y="4171950"/>
            <a:ext cx="33147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648450" y="4171950"/>
            <a:ext cx="49720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211859"/>
            <a:ext cx="3086100" cy="252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2950" y="3211859"/>
            <a:ext cx="3086100" cy="252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3400" y="3211859"/>
            <a:ext cx="3086100" cy="2529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952500" y="2830859"/>
            <a:ext cx="10287000" cy="38100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305050" y="2640359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905500" y="2640359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505950" y="2640359"/>
            <a:ext cx="381000" cy="3810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Planificación: 18 Semanas</a:t>
            </a:r>
            <a:endParaRPr lang="es-CL" noProof="0"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1075372" y="3402359"/>
            <a:ext cx="28403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1: Definición</a:t>
            </a:r>
            <a:endParaRPr lang="es-CL" noProof="0" dirty="0"/>
          </a:p>
        </p:txBody>
      </p:sp>
      <p:sp>
        <p:nvSpPr>
          <p:cNvPr id="214" name="Google Shape;214;p21"/>
          <p:cNvSpPr txBox="1"/>
          <p:nvPr/>
        </p:nvSpPr>
        <p:spPr>
          <a:xfrm>
            <a:off x="1143000" y="3888134"/>
            <a:ext cx="2705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Semanas 1 - 6</a:t>
            </a:r>
            <a:endParaRPr lang="es-CL" noProof="0" dirty="0"/>
          </a:p>
        </p:txBody>
      </p:sp>
      <p:sp>
        <p:nvSpPr>
          <p:cNvPr id="215" name="Google Shape;215;p21"/>
          <p:cNvSpPr txBox="1"/>
          <p:nvPr/>
        </p:nvSpPr>
        <p:spPr>
          <a:xfrm>
            <a:off x="4675822" y="3402359"/>
            <a:ext cx="28403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2: Construcción</a:t>
            </a:r>
            <a:endParaRPr lang="es-CL" noProof="0" dirty="0"/>
          </a:p>
        </p:txBody>
      </p:sp>
      <p:sp>
        <p:nvSpPr>
          <p:cNvPr id="216" name="Google Shape;216;p21"/>
          <p:cNvSpPr txBox="1"/>
          <p:nvPr/>
        </p:nvSpPr>
        <p:spPr>
          <a:xfrm>
            <a:off x="4743450" y="3888134"/>
            <a:ext cx="2705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Semanas 7 - 13</a:t>
            </a:r>
            <a:endParaRPr lang="es-CL" noProof="0"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8276272" y="3402359"/>
            <a:ext cx="28403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3: Transición</a:t>
            </a:r>
            <a:endParaRPr lang="es-CL" noProof="0" dirty="0"/>
          </a:p>
        </p:txBody>
      </p:sp>
      <p:sp>
        <p:nvSpPr>
          <p:cNvPr id="218" name="Google Shape;218;p21"/>
          <p:cNvSpPr txBox="1"/>
          <p:nvPr/>
        </p:nvSpPr>
        <p:spPr>
          <a:xfrm>
            <a:off x="8343900" y="3888134"/>
            <a:ext cx="2705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Semanas 14 - 18</a:t>
            </a:r>
            <a:endParaRPr lang="es-CL" noProof="0" dirty="0"/>
          </a:p>
        </p:txBody>
      </p:sp>
      <p:sp>
        <p:nvSpPr>
          <p:cNvPr id="222" name="Google Shape;222;p21"/>
          <p:cNvSpPr txBox="1"/>
          <p:nvPr/>
        </p:nvSpPr>
        <p:spPr>
          <a:xfrm>
            <a:off x="1257300" y="4138653"/>
            <a:ext cx="2514600" cy="17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s-CL" sz="1500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Planificación de </a:t>
            </a:r>
            <a:r>
              <a:rPr lang="es-CL" sz="1500" noProof="0" dirty="0" err="1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Sprints</a:t>
            </a:r>
            <a:endParaRPr lang="es-CL" sz="1500" b="0" i="0" u="none" strike="noStrike" cap="none" noProof="0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Levantamiento de Requerimientos</a:t>
            </a:r>
          </a:p>
          <a:p>
            <a:pPr>
              <a:lnSpc>
                <a:spcPct val="160000"/>
              </a:lnSpc>
            </a:pPr>
            <a:r>
              <a:rPr lang="es-CL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Diseño Arquitectura &amp; BD</a:t>
            </a:r>
            <a:endParaRPr lang="es-CL" noProof="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>
              <a:solidFill>
                <a:schemeClr val="tx1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838699" y="4207543"/>
            <a:ext cx="2514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Desarrollo Módulos Core</a:t>
            </a:r>
          </a:p>
          <a:p>
            <a:pPr>
              <a:lnSpc>
                <a:spcPct val="160000"/>
              </a:lnSpc>
            </a:pPr>
            <a:r>
              <a:rPr lang="es-CL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Configuración Ambientes</a:t>
            </a:r>
          </a:p>
          <a:p>
            <a:pPr>
              <a:lnSpc>
                <a:spcPct val="160000"/>
              </a:lnSpc>
            </a:pPr>
            <a:r>
              <a:rPr lang="es-CL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Administración BBDD</a:t>
            </a:r>
            <a:endParaRPr lang="es-CL" noProof="0" dirty="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es-CL" noProof="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  <p:sp>
        <p:nvSpPr>
          <p:cNvPr id="232" name="Google Shape;232;p21"/>
          <p:cNvSpPr txBox="1"/>
          <p:nvPr/>
        </p:nvSpPr>
        <p:spPr>
          <a:xfrm>
            <a:off x="8439149" y="4221259"/>
            <a:ext cx="2514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Pruebas Funcionales</a:t>
            </a:r>
          </a:p>
          <a:p>
            <a:pPr>
              <a:lnSpc>
                <a:spcPct val="160000"/>
              </a:lnSpc>
            </a:pPr>
            <a:r>
              <a:rPr lang="es-CL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Validación con Socio</a:t>
            </a:r>
          </a:p>
          <a:p>
            <a:pPr>
              <a:lnSpc>
                <a:spcPct val="160000"/>
              </a:lnSpc>
            </a:pPr>
            <a:r>
              <a:rPr lang="es-CL" noProof="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Documentación &amp; Cierre</a:t>
            </a:r>
            <a:endParaRPr lang="es-CL" noProof="0" dirty="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endParaRPr lang="es-CL" noProof="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title="Desarrolladores-web.png"/>
          <p:cNvPicPr preferRelativeResize="0"/>
          <p:nvPr/>
        </p:nvPicPr>
        <p:blipFill rotWithShape="1">
          <a:blip r:embed="rId5">
            <a:alphaModFix/>
          </a:blip>
          <a:srcRect t="13762" b="13762"/>
          <a:stretch/>
        </p:blipFill>
        <p:spPr>
          <a:xfrm>
            <a:off x="6038850" y="1771475"/>
            <a:ext cx="6164400" cy="4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Competencias Clave Aplicadas</a:t>
            </a:r>
            <a:endParaRPr lang="es-CL" noProof="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952500" y="201602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Arquitectura de Software:</a:t>
            </a:r>
            <a:r>
              <a:rPr lang="es-CL" sz="165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Diseño de modelos robustos y escalables para entornos web.</a:t>
            </a:r>
            <a:endParaRPr lang="es-CL" noProof="0"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952500" y="287684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Gestión de Proyectos:</a:t>
            </a:r>
            <a:r>
              <a:rPr lang="es-CL" sz="165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Planificación y control mediante metodologías ágiles y sistematización.</a:t>
            </a:r>
            <a:endParaRPr lang="es-CL" noProof="0" dirty="0"/>
          </a:p>
        </p:txBody>
      </p:sp>
      <p:sp>
        <p:nvSpPr>
          <p:cNvPr id="247" name="Google Shape;247;p22"/>
          <p:cNvSpPr txBox="1"/>
          <p:nvPr/>
        </p:nvSpPr>
        <p:spPr>
          <a:xfrm>
            <a:off x="952500" y="373766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Administración de BBDD:</a:t>
            </a:r>
            <a:r>
              <a:rPr lang="es-CL" sz="165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Manejo de datos sensibles, seguridad y optimización de consultas.</a:t>
            </a:r>
            <a:endParaRPr lang="es-CL" noProof="0"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952500" y="4598491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Desarrollo de Soluciones:</a:t>
            </a:r>
            <a:r>
              <a:rPr lang="es-CL" sz="165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 Implementación integral (Full </a:t>
            </a:r>
            <a:r>
              <a:rPr lang="es-CL" sz="1650" b="0" i="0" u="none" strike="noStrike" cap="none" noProof="0" dirty="0" err="1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Stack</a:t>
            </a:r>
            <a:r>
              <a:rPr lang="es-CL" sz="165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) orientada a resolver problemas de negocio.</a:t>
            </a:r>
            <a:endParaRPr lang="es-CL" noProof="0" dirty="0"/>
          </a:p>
        </p:txBody>
      </p:sp>
      <p:pic>
        <p:nvPicPr>
          <p:cNvPr id="249" name="Google Shape;24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350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9589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5671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7541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6334125" y="2110829"/>
            <a:ext cx="555069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 b="1" i="0" u="none" strike="noStrike" cap="none" noProof="0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 Real</a:t>
            </a:r>
            <a:endParaRPr lang="es-CL" noProof="0" dirty="0"/>
          </a:p>
        </p:txBody>
      </p:sp>
      <p:sp>
        <p:nvSpPr>
          <p:cNvPr id="259" name="Google Shape;259;p23"/>
          <p:cNvSpPr txBox="1"/>
          <p:nvPr/>
        </p:nvSpPr>
        <p:spPr>
          <a:xfrm>
            <a:off x="6334125" y="3063329"/>
            <a:ext cx="52863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r>
              <a:rPr lang="es-CL" sz="1950" b="0" i="0" u="none" strike="noStrike" cap="none" noProof="0" dirty="0" err="1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Dentalware</a:t>
            </a:r>
            <a:r>
              <a:rPr lang="es-CL" sz="195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 transforma la gestión clínica, permitiendo que el odontólogo se centre en lo más importante: </a:t>
            </a:r>
            <a:r>
              <a:rPr lang="es-CL" sz="1950" b="1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sus pacientes</a:t>
            </a:r>
            <a:r>
              <a:rPr lang="es-CL" sz="1950" b="0" i="0" u="none" strike="noStrike" cap="none" noProof="0" dirty="0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rPr>
              <a:t>."</a:t>
            </a:r>
            <a:endParaRPr lang="es-CL" noProof="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6334125" y="444237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81D4FA"/>
                </a:solidFill>
                <a:latin typeface="DM Sans"/>
                <a:ea typeface="DM Sans"/>
                <a:cs typeface="DM Sans"/>
                <a:sym typeface="DM Sans"/>
              </a:rPr>
              <a:t>— Un aporte a la modernización de la salud dental.</a:t>
            </a:r>
            <a:endParaRPr lang="es-CL" noProof="0" dirty="0"/>
          </a:p>
        </p:txBody>
      </p:sp>
      <p:pic>
        <p:nvPicPr>
          <p:cNvPr id="261" name="Google Shape;261;p23" descr="logo para clinica dental usando un molar sin text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050" y="1751100"/>
            <a:ext cx="3583700" cy="35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571500" y="5395912"/>
            <a:ext cx="11049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Gonzalo Alexis Arévalo Troncoso</a:t>
            </a:r>
            <a:br>
              <a:rPr lang="es-CL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500" b="0" i="0" u="none" strike="noStrike" cap="none" noProof="0" dirty="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Ingeniería en Informática</a:t>
            </a:r>
            <a:endParaRPr lang="es-CL" noProof="0" dirty="0"/>
          </a:p>
        </p:txBody>
      </p:sp>
      <p:sp>
        <p:nvSpPr>
          <p:cNvPr id="268" name="Google Shape;268;p24"/>
          <p:cNvSpPr txBox="1"/>
          <p:nvPr/>
        </p:nvSpPr>
        <p:spPr>
          <a:xfrm>
            <a:off x="295275" y="966787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  <p:sp>
        <p:nvSpPr>
          <p:cNvPr id="269" name="Google Shape;269;p24"/>
          <p:cNvSpPr txBox="1"/>
          <p:nvPr/>
        </p:nvSpPr>
        <p:spPr>
          <a:xfrm>
            <a:off x="295275" y="2214562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/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47101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44444"/>
                </a:solidFill>
                <a:latin typeface="DM Sans"/>
                <a:ea typeface="DM Sans"/>
                <a:cs typeface="DM Sans"/>
                <a:sym typeface="DM Sans"/>
              </a:rPr>
              <a:t>Gracias por su atención.</a:t>
            </a:r>
            <a:endParaRPr lang="es-CL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Panorámica</PresentationFormat>
  <Paragraphs>87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Calibri</vt:lpstr>
      <vt:lpstr>DM Sans</vt:lpstr>
      <vt:lpstr>Arial</vt:lpstr>
      <vt:lpstr>Merriweather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Gonzalo Arevalo</cp:lastModifiedBy>
  <cp:revision>1</cp:revision>
  <dcterms:modified xsi:type="dcterms:W3CDTF">2025-11-20T18:33:13Z</dcterms:modified>
</cp:coreProperties>
</file>